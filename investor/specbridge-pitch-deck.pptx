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659559" y="1622375"/>
            <a:ext cx="390138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600"/>
              </a:spcBef>
              <a:spcAft>
                <a:spcPts val="1600"/>
              </a:spcAft>
              <a:buNone/>
            </a:pPr>
            <a:r>
              <a:rPr lang="en-US" sz="5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SpecBridge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1675358" y="2924026"/>
            <a:ext cx="590914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200"/>
              </a:spcBef>
              <a:spcAft>
                <a:spcPts val="4000"/>
              </a:spcAft>
              <a:buNone/>
            </a:pPr>
            <a:r>
              <a:rPr lang="en-US" sz="2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the gap between experts and engineers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793778" y="3908227"/>
            <a:ext cx="15874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Round | Q1 2025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572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7950" y="1177826"/>
            <a:ext cx="2573982" cy="1914525"/>
          </a:xfrm>
          <a:prstGeom prst="roundRect">
            <a:avLst>
              <a:gd name="adj" fmla="val 796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15383" y="1863626"/>
            <a:ext cx="2159118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600"/>
              </a:spcBef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30-40%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15383" y="2539901"/>
            <a:ext cx="21591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dev time on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85083" y="1177826"/>
            <a:ext cx="2573982" cy="1914525"/>
          </a:xfrm>
          <a:prstGeom prst="roundRect">
            <a:avLst>
              <a:gd name="adj" fmla="val 796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492515" y="1863626"/>
            <a:ext cx="2159118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600"/>
              </a:spcBef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$260B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492515" y="2539901"/>
            <a:ext cx="21591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wasted on failed projects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62216" y="1177826"/>
            <a:ext cx="2573982" cy="1914525"/>
          </a:xfrm>
          <a:prstGeom prst="roundRect">
            <a:avLst>
              <a:gd name="adj" fmla="val 796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269648" y="1863626"/>
            <a:ext cx="2159118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600"/>
              </a:spcBef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269648" y="2539901"/>
            <a:ext cx="21591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from requirements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7950" y="3523952"/>
            <a:ext cx="829066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experts think in business language. Developers need precise specifications. The gap causes rework, delays, and failed projects.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07950" y="1565225"/>
            <a:ext cx="829066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3000"/>
              </a:spcAft>
              <a:buNone/>
            </a:pPr>
            <a:r>
              <a:rPr lang="en-US" sz="1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interviews domain experts in their language, then translates knowledge into precise technical specifications.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7950" y="2682776"/>
            <a:ext cx="25908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Interviews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3085951"/>
            <a:ext cx="2590851" cy="990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1300"/>
              </a:spcBef>
              <a:spcAft>
                <a:spcPts val="1300"/>
              </a:spcAft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asks contextual follow-ups, probes edge cases, and captures tacit knowledge experts struggle to articulate.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01901" y="2682776"/>
            <a:ext cx="25908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Artifacts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301901" y="3085951"/>
            <a:ext cx="2590851" cy="990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1300"/>
              </a:spcBef>
              <a:spcAft>
                <a:spcPts val="1300"/>
              </a:spcAft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Automatically generates flowcharts, decision trees, business rules, and test cases from conversations.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95851" y="2682776"/>
            <a:ext cx="25908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Developer-Ready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095851" y="3085951"/>
            <a:ext cx="2590851" cy="990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1300"/>
              </a:spcBef>
              <a:spcAft>
                <a:spcPts val="1300"/>
              </a:spcAft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Exports precise IF/THEN logic, edge case documentation, and validation criteria developers can implement directly.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012775" y="1412825"/>
            <a:ext cx="507950" cy="507950"/>
          </a:xfrm>
          <a:prstGeom prst="roundRect">
            <a:avLst>
              <a:gd name="adj" fmla="val 180018"/>
            </a:avLst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01854" y="1533525"/>
            <a:ext cx="1297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92773" y="2111276"/>
            <a:ext cx="15481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500"/>
              </a:spcBef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Describes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92773" y="2701826"/>
            <a:ext cx="1548104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expert explains the process in plain language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28850" y="1717625"/>
            <a:ext cx="285089" cy="453926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algn="l" indent="0" marL="0">
              <a:spcBef>
                <a:spcPts val="2400"/>
              </a:spcBef>
              <a:spcAft>
                <a:spcPts val="2400"/>
              </a:spcAft>
              <a:buNone/>
            </a:pPr>
            <a:r>
              <a:rPr lang="en-US" sz="2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216325" y="1412825"/>
            <a:ext cx="507950" cy="507950"/>
          </a:xfrm>
          <a:prstGeom prst="roundRect">
            <a:avLst>
              <a:gd name="adj" fmla="val 180018"/>
            </a:avLst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405403" y="1533525"/>
            <a:ext cx="1297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696322" y="2111276"/>
            <a:ext cx="154810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500"/>
              </a:spcBef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Interviews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96322" y="2482751"/>
            <a:ext cx="1548104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follow-ups probe edge cases and nuances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32399" y="1717625"/>
            <a:ext cx="285089" cy="453926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algn="l" indent="0" marL="0">
              <a:spcBef>
                <a:spcPts val="2400"/>
              </a:spcBef>
              <a:spcAft>
                <a:spcPts val="2400"/>
              </a:spcAft>
              <a:buNone/>
            </a:pPr>
            <a:r>
              <a:rPr lang="en-US" sz="2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419874" y="1412825"/>
            <a:ext cx="507950" cy="507950"/>
          </a:xfrm>
          <a:prstGeom prst="roundRect">
            <a:avLst>
              <a:gd name="adj" fmla="val 180018"/>
            </a:avLst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608953" y="1533525"/>
            <a:ext cx="1297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99871" y="2111276"/>
            <a:ext cx="15481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500"/>
              </a:spcBef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Artifacts Generated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99871" y="2701826"/>
            <a:ext cx="1548104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Flowcharts, rules, and specs created automatically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35948" y="1717625"/>
            <a:ext cx="285089" cy="453926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algn="l" indent="0" marL="0">
              <a:spcBef>
                <a:spcPts val="2400"/>
              </a:spcBef>
              <a:spcAft>
                <a:spcPts val="2400"/>
              </a:spcAft>
              <a:buNone/>
            </a:pPr>
            <a:r>
              <a:rPr lang="en-US" sz="2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623423" y="1412825"/>
            <a:ext cx="507950" cy="507950"/>
          </a:xfrm>
          <a:prstGeom prst="roundRect">
            <a:avLst>
              <a:gd name="adj" fmla="val 180018"/>
            </a:avLst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812502" y="1533525"/>
            <a:ext cx="1297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103421" y="2111276"/>
            <a:ext cx="154810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500"/>
              </a:spcBef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Align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03421" y="2482751"/>
            <a:ext cx="1548104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Developers implement with precision, stakeholders validate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572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7950" y="1127075"/>
            <a:ext cx="3962549" cy="3301901"/>
          </a:xfrm>
          <a:prstGeom prst="roundRect">
            <a:avLst>
              <a:gd name="adj" fmla="val 461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651" y="1431727"/>
            <a:ext cx="36792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 CHAT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651" y="1701552"/>
            <a:ext cx="3607147" cy="345877"/>
          </a:xfrm>
          <a:prstGeom prst="roundRect">
            <a:avLst>
              <a:gd name="adj" fmla="val 22031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7152" y="1803053"/>
            <a:ext cx="34722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when a discount exceeds the max?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66651" y="2123629"/>
            <a:ext cx="3226147" cy="345877"/>
          </a:xfrm>
          <a:prstGeom prst="roundRect">
            <a:avLst>
              <a:gd name="adj" fmla="val 22031"/>
            </a:avLst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168152" y="2225129"/>
            <a:ext cx="30836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Goes to manager for approval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651" y="2545705"/>
            <a:ext cx="3607147" cy="345877"/>
          </a:xfrm>
          <a:prstGeom prst="roundRect">
            <a:avLst>
              <a:gd name="adj" fmla="val 22031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7152" y="2647206"/>
            <a:ext cx="34722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can managers approve without escalation?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66651" y="2967782"/>
            <a:ext cx="3226147" cy="345877"/>
          </a:xfrm>
          <a:prstGeom prst="roundRect">
            <a:avLst>
              <a:gd name="adj" fmla="val 22031"/>
            </a:avLst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68152" y="3069282"/>
            <a:ext cx="30836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25%. Above needs director approval.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73650" y="1127075"/>
            <a:ext cx="3962549" cy="3301901"/>
          </a:xfrm>
          <a:prstGeom prst="roundRect">
            <a:avLst>
              <a:gd name="adj" fmla="val 461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851350" y="1431727"/>
            <a:ext cx="36792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ARTIFACTS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51350" y="1701552"/>
            <a:ext cx="3607147" cy="437852"/>
          </a:xfrm>
          <a:prstGeom prst="roundRect">
            <a:avLst>
              <a:gd name="adj" fmla="val 17403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978301" y="1828502"/>
            <a:ext cx="1147643" cy="183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Overview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98147" y="1828502"/>
            <a:ext cx="533400" cy="183952"/>
          </a:xfrm>
          <a:prstGeom prst="roundRect">
            <a:avLst>
              <a:gd name="adj" fmla="val 55232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899648" y="1853803"/>
            <a:ext cx="3370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51350" y="2215604"/>
            <a:ext cx="3607147" cy="437852"/>
          </a:xfrm>
          <a:prstGeom prst="roundRect">
            <a:avLst>
              <a:gd name="adj" fmla="val 17403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978301" y="2342555"/>
            <a:ext cx="1203204" cy="183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Flowchart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98147" y="2342555"/>
            <a:ext cx="533400" cy="183952"/>
          </a:xfrm>
          <a:prstGeom prst="roundRect">
            <a:avLst>
              <a:gd name="adj" fmla="val 55232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899648" y="2367855"/>
            <a:ext cx="3370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51350" y="2729657"/>
            <a:ext cx="3607147" cy="437852"/>
          </a:xfrm>
          <a:prstGeom prst="roundRect">
            <a:avLst>
              <a:gd name="adj" fmla="val 17403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978301" y="2856607"/>
            <a:ext cx="981721" cy="183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Rules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798147" y="2856607"/>
            <a:ext cx="533400" cy="183952"/>
          </a:xfrm>
          <a:prstGeom prst="roundRect">
            <a:avLst>
              <a:gd name="adj" fmla="val 55232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899648" y="2881908"/>
            <a:ext cx="3370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51350" y="3243709"/>
            <a:ext cx="3607147" cy="437852"/>
          </a:xfrm>
          <a:prstGeom prst="roundRect">
            <a:avLst>
              <a:gd name="adj" fmla="val 17403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978301" y="3370659"/>
            <a:ext cx="776026" cy="183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798147" y="3370659"/>
            <a:ext cx="533400" cy="183952"/>
          </a:xfrm>
          <a:prstGeom prst="roundRect">
            <a:avLst>
              <a:gd name="adj" fmla="val 55232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899648" y="3395960"/>
            <a:ext cx="3370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572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7950" y="1228725"/>
            <a:ext cx="2527399" cy="2754660"/>
          </a:xfrm>
          <a:prstGeom prst="roundRect">
            <a:avLst>
              <a:gd name="adj" fmla="val 603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41655" y="1622227"/>
            <a:ext cx="20599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800"/>
              </a:spcAft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41655" y="2282577"/>
            <a:ext cx="2059990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0"/>
              </a:spcBef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$45B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41655" y="3003203"/>
            <a:ext cx="2059990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requirements management and business analysis tools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89250" y="1228725"/>
            <a:ext cx="2527399" cy="2754660"/>
          </a:xfrm>
          <a:prstGeom prst="roundRect">
            <a:avLst>
              <a:gd name="adj" fmla="val 603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522955" y="1622227"/>
            <a:ext cx="20599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800"/>
              </a:spcAft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522955" y="2282577"/>
            <a:ext cx="2059990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0"/>
              </a:spcBef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$8B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22955" y="3003203"/>
            <a:ext cx="2059990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Mid-market and enterprise software development teams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70550" y="1228725"/>
            <a:ext cx="2565499" cy="2754660"/>
          </a:xfrm>
          <a:prstGeom prst="roundRect">
            <a:avLst>
              <a:gd name="adj" fmla="val 594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23305" y="1641277"/>
            <a:ext cx="20599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800"/>
              </a:spcAft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(Year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23305" y="2301627"/>
            <a:ext cx="2059990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0"/>
              </a:spcBef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$120M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323305" y="3022253"/>
            <a:ext cx="2059990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adopters in agile and DevOps environments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572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7950" y="1177826"/>
            <a:ext cx="2561183" cy="1863477"/>
          </a:xfrm>
          <a:prstGeom prst="roundRect">
            <a:avLst>
              <a:gd name="adj" fmla="val 817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9552" y="1546027"/>
            <a:ext cx="21979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300"/>
              </a:spcBef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9552" y="2050852"/>
            <a:ext cx="219798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4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9552" y="2530227"/>
            <a:ext cx="21979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projects, basic exports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72284" y="1177826"/>
            <a:ext cx="2599283" cy="1863477"/>
          </a:xfrm>
          <a:prstGeom prst="roundRect">
            <a:avLst>
              <a:gd name="adj" fmla="val 8178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472936" y="1565077"/>
            <a:ext cx="21979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300"/>
              </a:spcBef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2936" y="2069902"/>
            <a:ext cx="219798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4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$19/mo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472936" y="2549277"/>
            <a:ext cx="21979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projects, all formats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074718" y="1177826"/>
            <a:ext cx="2561183" cy="1863477"/>
          </a:xfrm>
          <a:prstGeom prst="roundRect">
            <a:avLst>
              <a:gd name="adj" fmla="val 817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256319" y="1546027"/>
            <a:ext cx="21979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300"/>
              </a:spcBef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256319" y="2050852"/>
            <a:ext cx="219798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4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256319" y="2530227"/>
            <a:ext cx="21979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SSO, compliance, support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34228" y="3549104"/>
            <a:ext cx="77724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634228" y="4098280"/>
            <a:ext cx="7772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Margin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777081" y="3549104"/>
            <a:ext cx="79226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$2,400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777081" y="4098280"/>
            <a:ext cx="7922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LTV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6019" y="3549104"/>
            <a:ext cx="66945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936019" y="4098280"/>
            <a:ext cx="6694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CAC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74693" y="3549104"/>
            <a:ext cx="53253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48:1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974693" y="4098280"/>
            <a:ext cx="5325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LTV:CAC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Traction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07950" y="1336625"/>
            <a:ext cx="1803499" cy="2238375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00811" y="2098625"/>
            <a:ext cx="121777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600"/>
              </a:spcBef>
              <a:spcAft>
                <a:spcPts val="400"/>
              </a:spcAft>
              <a:buNone/>
            </a:pPr>
            <a:r>
              <a:rPr lang="en-US" sz="36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00811" y="2774900"/>
            <a:ext cx="12177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Status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16250" y="1336625"/>
            <a:ext cx="1803499" cy="2238375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909111" y="2098625"/>
            <a:ext cx="121777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600"/>
              </a:spcBef>
              <a:spcAft>
                <a:spcPts val="400"/>
              </a:spcAft>
              <a:buNone/>
            </a:pPr>
            <a:r>
              <a:rPr lang="en-US" sz="36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909111" y="2774900"/>
            <a:ext cx="12177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Users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24549" y="1336625"/>
            <a:ext cx="1803499" cy="2238375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017410" y="2098625"/>
            <a:ext cx="121777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600"/>
              </a:spcBef>
              <a:spcAft>
                <a:spcPts val="400"/>
              </a:spcAft>
              <a:buNone/>
            </a:pPr>
            <a:r>
              <a:rPr lang="en-US" sz="36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150+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017410" y="2774900"/>
            <a:ext cx="121777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Specifications Created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32848" y="1336625"/>
            <a:ext cx="1803499" cy="2238375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25709" y="2098625"/>
            <a:ext cx="121777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600"/>
              </a:spcBef>
              <a:spcAft>
                <a:spcPts val="400"/>
              </a:spcAft>
              <a:buNone/>
            </a:pPr>
            <a:r>
              <a:rPr lang="en-US" sz="36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4.8/5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125709" y="2774900"/>
            <a:ext cx="12177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Satisfaction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7950" y="4133701"/>
            <a:ext cx="82906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Milestones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950" y="4495651"/>
            <a:ext cx="2573982" cy="647700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527000" y="4495651"/>
            <a:ext cx="0" cy="647700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8450" y="4648051"/>
            <a:ext cx="22757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2024: MVP launched with core interview functionality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85083" y="4495651"/>
            <a:ext cx="2573982" cy="647700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3304133" y="4495651"/>
            <a:ext cx="0" cy="647700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5583" y="4648051"/>
            <a:ext cx="22757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2025: Beta program with 12 design partners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62216" y="4495651"/>
            <a:ext cx="2573982" cy="647700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081266" y="4495651"/>
            <a:ext cx="0" cy="647700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52716" y="4648051"/>
            <a:ext cx="22757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2025: Public launch with Pro tier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572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Win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7950" y="1127075"/>
            <a:ext cx="8128099" cy="2069604"/>
          </a:xfrm>
          <a:prstGeom prst="roundRect">
            <a:avLst>
              <a:gd name="adj" fmla="val 736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1127075"/>
            <a:ext cx="8128099" cy="415826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07950" y="1538139"/>
            <a:ext cx="8128099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0350" y="1254026"/>
            <a:ext cx="23490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68117" y="1254026"/>
            <a:ext cx="15660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SpecBridge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108228" y="1254026"/>
            <a:ext cx="15660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Jira/Confluence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48339" y="1254026"/>
            <a:ext cx="15660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BA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7950" y="1953964"/>
            <a:ext cx="8128099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0350" y="1669852"/>
            <a:ext cx="23490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interviews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68117" y="1669852"/>
            <a:ext cx="15660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08228" y="1669852"/>
            <a:ext cx="15660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948339" y="1669852"/>
            <a:ext cx="15660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7950" y="2369790"/>
            <a:ext cx="8128099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350" y="2085677"/>
            <a:ext cx="23490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Auto-generated artifacts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68117" y="2085677"/>
            <a:ext cx="15660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08228" y="2085677"/>
            <a:ext cx="15660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48339" y="2085677"/>
            <a:ext cx="15660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7950" y="2785616"/>
            <a:ext cx="8128099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0350" y="2501503"/>
            <a:ext cx="23490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 discovery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68117" y="2501503"/>
            <a:ext cx="15660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108228" y="2501503"/>
            <a:ext cx="15660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48339" y="2501503"/>
            <a:ext cx="15660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 or miss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0350" y="2917329"/>
            <a:ext cx="23490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spec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268117" y="2917329"/>
            <a:ext cx="15660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8228" y="2917329"/>
            <a:ext cx="15660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48339" y="2917329"/>
            <a:ext cx="15660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Days/Weeks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7950" y="3399830"/>
            <a:ext cx="8290661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1600"/>
              </a:spcBef>
              <a:spcAft>
                <a:spcPts val="1300"/>
              </a:spcAft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unfair advantage: Purpose-built AI for requirements extraction, not retrofitted documentation tools.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38550" y="457200"/>
            <a:ext cx="190408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651099" y="1228725"/>
            <a:ext cx="5841802" cy="3703439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27450" y="1533525"/>
            <a:ext cx="888950" cy="888950"/>
          </a:xfrm>
          <a:prstGeom prst="roundRect">
            <a:avLst>
              <a:gd name="adj" fmla="val 102863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110791" y="2701826"/>
            <a:ext cx="492241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200"/>
              </a:spcBef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Kotrotsos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10791" y="3190726"/>
            <a:ext cx="492241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300"/>
              </a:spcBef>
              <a:spcAft>
                <a:spcPts val="1200"/>
              </a:spcAft>
              <a:buNone/>
            </a:pPr>
            <a:r>
              <a:rPr lang="en-US" sz="1300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and CEO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10791" y="3543151"/>
            <a:ext cx="4922419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entrepreneur with experience in enterprise software and AI. Built and scaled B2B SaaS products. Passionate about bridging the communication gap in software development.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10791" y="4335363"/>
            <a:ext cx="49224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marco@specbridge.ai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572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7950" y="1736675"/>
            <a:ext cx="829066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200"/>
              </a:spcBef>
              <a:spcAft>
                <a:spcPts val="400"/>
              </a:spcAft>
              <a:buNone/>
            </a:pPr>
            <a:r>
              <a:rPr lang="en-US" sz="52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$1.5M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07950" y="2727127"/>
            <a:ext cx="82906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600"/>
              </a:spcAft>
              <a:buNone/>
            </a:pPr>
            <a:r>
              <a:rPr lang="en-US" sz="14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Round - 18 month runway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7950" y="3139827"/>
            <a:ext cx="2590949" cy="1142851"/>
          </a:xfrm>
          <a:prstGeom prst="roundRect">
            <a:avLst>
              <a:gd name="adj" fmla="val 11113"/>
            </a:avLst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60350" y="3495377"/>
            <a:ext cx="233187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60350" y="3860453"/>
            <a:ext cx="23318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and Engineering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76600" y="3139827"/>
            <a:ext cx="2590949" cy="1142851"/>
          </a:xfrm>
          <a:prstGeom prst="roundRect">
            <a:avLst>
              <a:gd name="adj" fmla="val 11113"/>
            </a:avLst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429000" y="3495377"/>
            <a:ext cx="233187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29000" y="3860453"/>
            <a:ext cx="23318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045250" y="3139827"/>
            <a:ext cx="2590949" cy="1142851"/>
          </a:xfrm>
          <a:prstGeom prst="roundRect">
            <a:avLst>
              <a:gd name="adj" fmla="val 11113"/>
            </a:avLst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97650" y="3495377"/>
            <a:ext cx="233187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197650" y="3860453"/>
            <a:ext cx="23318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78187" y="914549"/>
            <a:ext cx="3455378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800"/>
              </a:spcBef>
              <a:spcAft>
                <a:spcPts val="1600"/>
              </a:spcAft>
              <a:buNone/>
            </a:pPr>
            <a:r>
              <a:rPr lang="en-US" sz="4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SpecBridge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939082" y="2076450"/>
            <a:ext cx="53711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0"/>
              </a:spcBef>
              <a:spcAft>
                <a:spcPts val="4000"/>
              </a:spcAft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the gap between experts and engineers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832324" y="3082826"/>
            <a:ext cx="150878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800"/>
              </a:spcAft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Kotrotsos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380482" y="3651052"/>
            <a:ext cx="243054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marco@specbridge.ai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43363" y="4451152"/>
            <a:ext cx="10784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specbridge.ai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SpecBridge Investor Pitch Deck</dc:title>
  <dc:subject>Seed Round 2025</dc:subject>
  <dc:creator>SpecBridge</dc:creator>
  <cp:lastModifiedBy>SpecBridge</cp:lastModifiedBy>
  <cp:revision>1</cp:revision>
  <dcterms:created xsi:type="dcterms:W3CDTF">2026-01-20T18:45:45Z</dcterms:created>
  <dcterms:modified xsi:type="dcterms:W3CDTF">2026-01-20T18:45:45Z</dcterms:modified>
</cp:coreProperties>
</file>